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notesMasterIdLst>
    <p:notesMasterId r:id="rId16"/>
  </p:notesMasterIdLst>
  <p:sldIdLst>
    <p:sldId id="257" r:id="rId2"/>
    <p:sldId id="264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70" r:id="rId11"/>
    <p:sldId id="266" r:id="rId12"/>
    <p:sldId id="267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035BC-B319-49A2-8B98-07D879D13814}" v="152" dt="2026-04-30T01:30:59.102"/>
    <p1510:client id="{2FEAD95E-7479-415F-B4BC-BD6F0DF5D2BF}" v="375" dt="2026-04-30T04:36:11.047"/>
    <p1510:client id="{7A5F2E3E-80CD-F74A-6135-AC8D2EC0148E}" v="3" dt="2026-04-30T02:28:31.799"/>
    <p1510:client id="{EB500E35-6BAE-42B4-8806-AFD2C2001A92}" v="6" dt="2026-04-30T11:43:02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E6EAD-F935-4764-AA5F-970F56596155}" type="datetimeFigureOut"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7790B-47FE-402A-9586-C526D0347D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67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Camden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07790B-47FE-402A-9586-C526D0347D03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54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Thrisha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Thrisha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Thrisha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Camden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Gerrit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Gerrit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C6812-519F-D5D8-4893-E107E8985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51423-B315-F16E-799F-9D6FB2589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31F15-EEE9-319E-DF3F-9442B868E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Camden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2DE86-BDB8-FCB3-D02C-4BFDF8D74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18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Alysha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F80C-8068-8DA6-CA66-E7E9A1422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A26EE-967D-8ACC-4285-78B4D6420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CFE46-F0CC-541D-9DE4-8381F086A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Alysha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3EBA5-A7F7-BE79-5260-4792835E28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53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Alysha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Alysha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Gerrit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07790B-47FE-402A-9586-C526D0347D03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61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https://github.com/alyshain/sta518-project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07790B-47FE-402A-9586-C526D0347D03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4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8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0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91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18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3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3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1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38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90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90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75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88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2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yshain/sta518-projec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66E8-F555-01BD-A639-67DFAE570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8323" y="2993463"/>
            <a:ext cx="6884895" cy="85791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  <a:ea typeface="+mj-lt"/>
                <a:cs typeface="+mj-lt"/>
              </a:rPr>
              <a:t>How Rising Costs Outpaced Income</a:t>
            </a:r>
            <a:br>
              <a:rPr lang="en-US" sz="3600">
                <a:ea typeface="+mj-lt"/>
                <a:cs typeface="+mj-lt"/>
              </a:rPr>
            </a:br>
            <a:r>
              <a:rPr lang="en-US" sz="3600">
                <a:solidFill>
                  <a:schemeClr val="tx1">
                    <a:lumMod val="65000"/>
                    <a:lumOff val="35000"/>
                  </a:schemeClr>
                </a:solidFill>
                <a:ea typeface="+mj-lt"/>
                <a:cs typeface="+mj-lt"/>
              </a:rPr>
              <a:t>(2009–2023)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0CCA4-C0BF-6EF2-553C-41934F16A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4878144"/>
            <a:ext cx="6096000" cy="516370"/>
          </a:xfrm>
        </p:spPr>
        <p:txBody>
          <a:bodyPr anchor="t">
            <a:normAutofit/>
          </a:bodyPr>
          <a:lstStyle/>
          <a:p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Alysha Nadeem | Camden Davis | Gerrit Mitchell | Thrisha Jawahar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A6167E-37E1-F92C-23E6-8615055AFF7F}"/>
              </a:ext>
            </a:extLst>
          </p:cNvPr>
          <p:cNvSpPr txBox="1"/>
          <p:nvPr/>
        </p:nvSpPr>
        <p:spPr>
          <a:xfrm>
            <a:off x="649942" y="1792941"/>
            <a:ext cx="1088091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0" i="0" u="none" strike="noStrike" baseline="0">
                <a:solidFill>
                  <a:srgbClr val="595959"/>
                </a:solidFill>
                <a:latin typeface="Calibri Light"/>
              </a:rPr>
              <a:t>The Affordability Squeeze</a:t>
            </a:r>
            <a:endParaRPr lang="en-US" sz="6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8FE31C39-B401-8CEA-63D4-D2C6E6B35693}"/>
              </a:ext>
            </a:extLst>
          </p:cNvPr>
          <p:cNvSpPr/>
          <p:nvPr/>
        </p:nvSpPr>
        <p:spPr>
          <a:xfrm>
            <a:off x="645907" y="644248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>
                <a:solidFill>
                  <a:srgbClr val="5A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 518  •  Grand Valley State University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615746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609600" y="999744"/>
            <a:ext cx="10972800" cy="48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28016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1A2B5F"/>
                </a:solidFill>
              </a:rPr>
              <a:t>The Question</a:t>
            </a:r>
            <a:endParaRPr lang="en-US" sz="1867"/>
          </a:p>
        </p:txBody>
      </p:sp>
      <p:sp>
        <p:nvSpPr>
          <p:cNvPr id="5" name="Text 3"/>
          <p:cNvSpPr/>
          <p:nvPr/>
        </p:nvSpPr>
        <p:spPr>
          <a:xfrm>
            <a:off x="609600" y="1767840"/>
            <a:ext cx="4998720" cy="304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Between 2009 and 2023, the U.S. CPI rose ~42%, reshaping household budgets nationwide.
</a:t>
            </a:r>
            <a:r>
              <a:rPr lang="en-US" sz="1700" b="1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Did income growth keep pace — and did the burden fall equally across all communities?</a:t>
            </a:r>
            <a:endParaRPr lang="en-US" sz="1733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17920" y="1280160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1A2B5F"/>
                </a:solidFill>
              </a:rPr>
              <a:t>Data Sources</a:t>
            </a:r>
            <a:endParaRPr lang="en-US" sz="1867"/>
          </a:p>
        </p:txBody>
      </p:sp>
      <p:sp>
        <p:nvSpPr>
          <p:cNvPr id="7" name="Text 5"/>
          <p:cNvSpPr/>
          <p:nvPr/>
        </p:nvSpPr>
        <p:spPr>
          <a:xfrm>
            <a:off x="6217920" y="1767840"/>
            <a:ext cx="5364480" cy="3291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6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Census ACS (2009–2023)</a:t>
            </a:r>
            <a:endParaRPr lang="en-US" sz="1600"/>
          </a:p>
          <a:p>
            <a:pPr marL="1065530" lvl="1" indent="-456565">
              <a:buSzPct val="100000"/>
              <a:buFont typeface="Courier New"/>
              <a:buChar char="o"/>
            </a:pPr>
            <a:r>
              <a:rPr lang="en-US" sz="16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county-level observations per year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marL="1065530" lvl="1" indent="-456565">
              <a:buSzPct val="100000"/>
              <a:buFont typeface="Courier New"/>
              <a:buChar char="o"/>
            </a:pPr>
            <a:r>
              <a:rPr lang="en-US" sz="16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rent, home costs, poverty rates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600"/>
          </a:p>
          <a:p>
            <a:pPr marL="457189" indent="-457189">
              <a:buSzPct val="100000"/>
              <a:buChar char="•"/>
            </a:pPr>
            <a:r>
              <a:rPr lang="en-US" sz="16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CPI-U (2000–2024)</a:t>
            </a:r>
            <a:endParaRPr lang="en-US" sz="1600"/>
          </a:p>
          <a:p>
            <a:pPr marL="1065530" lvl="1" indent="-456565">
              <a:buSzPct val="100000"/>
              <a:buFont typeface="Courier New"/>
              <a:buChar char="o"/>
            </a:pPr>
            <a:r>
              <a:rPr lang="en-US" sz="16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CPI aggregated to yearly averages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marL="1065530" lvl="1" indent="-456565">
              <a:buSzPct val="100000"/>
              <a:buFont typeface="Courier New"/>
              <a:buChar char="o"/>
            </a:pPr>
            <a:r>
              <a:rPr lang="en-US" sz="16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adjust all dollar figures to 2024 $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600" y="5120640"/>
            <a:ext cx="10972800" cy="1036320"/>
          </a:xfrm>
          <a:prstGeom prst="rect">
            <a:avLst/>
          </a:prstGeom>
          <a:solidFill>
            <a:srgbClr val="E8F4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480" y="51816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High-poverty counties experienced meaningfully lower inflation-adjusted income growth, widening the gap with wealthier communities over the study period.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09600" y="6437376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</a:rPr>
              <a:t>Source: U.S. Census Bureau ACS | Bureau of Labor Statistics CPI-U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8887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Key Transformations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609600" y="999744"/>
            <a:ext cx="10972800" cy="48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341120"/>
            <a:ext cx="195072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9600" y="1438656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1565C0"/>
                </a:solidFill>
              </a:rPr>
              <a:t>01</a:t>
            </a:r>
            <a:endParaRPr lang="en-US" sz="2933"/>
          </a:p>
        </p:txBody>
      </p:sp>
      <p:sp>
        <p:nvSpPr>
          <p:cNvPr id="6" name="Text 4"/>
          <p:cNvSpPr/>
          <p:nvPr/>
        </p:nvSpPr>
        <p:spPr>
          <a:xfrm>
            <a:off x="707136" y="2011680"/>
            <a:ext cx="17556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1A2B5F"/>
                </a:solidFill>
              </a:rPr>
              <a:t>Load &amp; Clean</a:t>
            </a:r>
            <a:endParaRPr lang="en-US" sz="1467"/>
          </a:p>
        </p:txBody>
      </p:sp>
      <p:sp>
        <p:nvSpPr>
          <p:cNvPr id="7" name="Text 5"/>
          <p:cNvSpPr/>
          <p:nvPr/>
        </p:nvSpPr>
        <p:spPr>
          <a:xfrm>
            <a:off x="707136" y="2560320"/>
            <a:ext cx="1755648" cy="292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Standardized FIPS codes with </a:t>
            </a:r>
            <a:r>
              <a:rPr lang="en-US" sz="14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str_pad</a:t>
            </a: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(). Removed duplicates and impossible values. Filtered to 2009–2023.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852928" y="1341120"/>
            <a:ext cx="195072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52928" y="1438656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1565C0"/>
                </a:solidFill>
              </a:rPr>
              <a:t>02</a:t>
            </a:r>
            <a:endParaRPr lang="en-US" sz="2933"/>
          </a:p>
        </p:txBody>
      </p:sp>
      <p:sp>
        <p:nvSpPr>
          <p:cNvPr id="10" name="Text 8"/>
          <p:cNvSpPr/>
          <p:nvPr/>
        </p:nvSpPr>
        <p:spPr>
          <a:xfrm>
            <a:off x="2950464" y="2011680"/>
            <a:ext cx="17556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1A2B5F"/>
                </a:solidFill>
              </a:rPr>
              <a:t>CPI Aggregation</a:t>
            </a:r>
            <a:endParaRPr lang="en-US" sz="1467"/>
          </a:p>
        </p:txBody>
      </p:sp>
      <p:sp>
        <p:nvSpPr>
          <p:cNvPr id="11" name="Text 9"/>
          <p:cNvSpPr/>
          <p:nvPr/>
        </p:nvSpPr>
        <p:spPr>
          <a:xfrm>
            <a:off x="2950464" y="2560320"/>
            <a:ext cx="1755648" cy="292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Parsed date strings with </a:t>
            </a:r>
            <a:r>
              <a:rPr lang="en-US" sz="14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lubridate</a:t>
            </a: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::</a:t>
            </a:r>
            <a:r>
              <a:rPr lang="en-US" sz="14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ymd</a:t>
            </a: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(). Averaged 12 monthly CPI-U values into annual averages.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96256" y="1341120"/>
            <a:ext cx="1950720" cy="4389120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96256" y="1438656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AADDFF"/>
                </a:solidFill>
              </a:rPr>
              <a:t>03</a:t>
            </a:r>
            <a:endParaRPr lang="en-US" sz="2933"/>
          </a:p>
        </p:txBody>
      </p:sp>
      <p:sp>
        <p:nvSpPr>
          <p:cNvPr id="14" name="Text 12"/>
          <p:cNvSpPr/>
          <p:nvPr/>
        </p:nvSpPr>
        <p:spPr>
          <a:xfrm>
            <a:off x="5193792" y="2011680"/>
            <a:ext cx="17556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</a:rPr>
              <a:t>Joins</a:t>
            </a:r>
            <a:endParaRPr lang="en-US" sz="1450"/>
          </a:p>
        </p:txBody>
      </p:sp>
      <p:sp>
        <p:nvSpPr>
          <p:cNvPr id="15" name="Text 13"/>
          <p:cNvSpPr/>
          <p:nvPr/>
        </p:nvSpPr>
        <p:spPr>
          <a:xfrm>
            <a:off x="5193792" y="2560320"/>
            <a:ext cx="1755648" cy="292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>
                <a:solidFill>
                  <a:srgbClr val="DDEEFF"/>
                </a:solidFill>
                <a:latin typeface="Calibri"/>
                <a:ea typeface="Calibri"/>
                <a:cs typeface="Calibri"/>
              </a:rPr>
              <a:t>Merged census county-year data to CPI yearly averages. All 45,000+ rows preserved.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39584" y="1341120"/>
            <a:ext cx="195072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39584" y="1438656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1565C0"/>
                </a:solidFill>
              </a:rPr>
              <a:t>04</a:t>
            </a:r>
            <a:endParaRPr lang="en-US" sz="2933"/>
          </a:p>
        </p:txBody>
      </p:sp>
      <p:sp>
        <p:nvSpPr>
          <p:cNvPr id="18" name="Text 16"/>
          <p:cNvSpPr/>
          <p:nvPr/>
        </p:nvSpPr>
        <p:spPr>
          <a:xfrm>
            <a:off x="7437120" y="2011680"/>
            <a:ext cx="17556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1A2B5F"/>
                </a:solidFill>
              </a:rPr>
              <a:t>Inflation Adjust</a:t>
            </a:r>
            <a:endParaRPr lang="en-US" sz="1467"/>
          </a:p>
        </p:txBody>
      </p:sp>
      <p:sp>
        <p:nvSpPr>
          <p:cNvPr id="19" name="Text 17"/>
          <p:cNvSpPr/>
          <p:nvPr/>
        </p:nvSpPr>
        <p:spPr>
          <a:xfrm>
            <a:off x="7437120" y="2560320"/>
            <a:ext cx="1755648" cy="292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Created 2024-dollar versions of income, rent, and home cost using the CPI ratio formula.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582912" y="1341120"/>
            <a:ext cx="195072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82912" y="1438656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1565C0"/>
                </a:solidFill>
              </a:rPr>
              <a:t>05</a:t>
            </a:r>
            <a:endParaRPr lang="en-US" sz="2933"/>
          </a:p>
        </p:txBody>
      </p:sp>
      <p:sp>
        <p:nvSpPr>
          <p:cNvPr id="22" name="Text 20"/>
          <p:cNvSpPr/>
          <p:nvPr/>
        </p:nvSpPr>
        <p:spPr>
          <a:xfrm>
            <a:off x="9680448" y="2011680"/>
            <a:ext cx="17556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1A2B5F"/>
                </a:solidFill>
              </a:rPr>
              <a:t>Derived Variables</a:t>
            </a:r>
            <a:endParaRPr lang="en-US" sz="1467"/>
          </a:p>
        </p:txBody>
      </p:sp>
      <p:sp>
        <p:nvSpPr>
          <p:cNvPr id="23" name="Text 21"/>
          <p:cNvSpPr/>
          <p:nvPr/>
        </p:nvSpPr>
        <p:spPr>
          <a:xfrm>
            <a:off x="9680448" y="2560320"/>
            <a:ext cx="1755648" cy="292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Extracted state and county via </a:t>
            </a:r>
            <a:r>
              <a:rPr lang="en-US" sz="14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str_extract</a:t>
            </a: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(). Assigned poverty quartile tiers with </a:t>
            </a:r>
            <a:r>
              <a:rPr lang="en-US" sz="14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ntile</a:t>
            </a: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(). Computed rent-to-income ratio.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9600" y="6437376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</a:rPr>
              <a:t>stringr: str_pad, str_squish, str_detect, str_extract, str_remove  |  lubridate: ymd(), year()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of Missingness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609600" y="999744"/>
            <a:ext cx="10972800" cy="48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426208"/>
            <a:ext cx="414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>
              <a:solidFill>
                <a:srgbClr val="2D3748"/>
              </a:solidFill>
              <a:ea typeface="Calibri"/>
              <a:cs typeface="Calibri"/>
            </a:endParaRPr>
          </a:p>
        </p:txBody>
      </p:sp>
      <p:pic>
        <p:nvPicPr>
          <p:cNvPr id="18" name="Picture 17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6E642BC6-9843-1CD7-4827-97F18C1CCF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2" t="1053" r="-201" b="310"/>
          <a:stretch>
            <a:fillRect/>
          </a:stretch>
        </p:blipFill>
        <p:spPr>
          <a:xfrm>
            <a:off x="2496115" y="1275147"/>
            <a:ext cx="7199861" cy="4823500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8F1E8FFB-BE3F-8BBF-EC85-DA19205D65C0}"/>
              </a:ext>
            </a:extLst>
          </p:cNvPr>
          <p:cNvSpPr/>
          <p:nvPr/>
        </p:nvSpPr>
        <p:spPr>
          <a:xfrm>
            <a:off x="609600" y="6504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</a:rPr>
              <a:t>Visualized with naniar::gg_miss_var().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The Inflation Context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609600" y="999744"/>
            <a:ext cx="10972800" cy="48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00160" y="1341120"/>
            <a:ext cx="2682240" cy="1341120"/>
          </a:xfrm>
          <a:prstGeom prst="rect">
            <a:avLst/>
          </a:prstGeom>
          <a:solidFill>
            <a:srgbClr val="C62828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00160" y="1438656"/>
            <a:ext cx="268224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>
                <a:solidFill>
                  <a:srgbClr val="FFFFFF"/>
                </a:solidFill>
              </a:rPr>
              <a:t>+42%</a:t>
            </a:r>
            <a:endParaRPr lang="en-US" sz="4267"/>
          </a:p>
        </p:txBody>
      </p:sp>
      <p:sp>
        <p:nvSpPr>
          <p:cNvPr id="7" name="Text 4"/>
          <p:cNvSpPr/>
          <p:nvPr/>
        </p:nvSpPr>
        <p:spPr>
          <a:xfrm>
            <a:off x="8900160" y="2118970"/>
            <a:ext cx="2682240" cy="5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DDEEFF"/>
                </a:solidFill>
              </a:rPr>
              <a:t>CPI increase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DDEEFF"/>
                </a:solidFill>
              </a:rPr>
              <a:t>2009–2023</a:t>
            </a:r>
            <a:endParaRPr lang="en-US" sz="1467"/>
          </a:p>
        </p:txBody>
      </p:sp>
      <p:sp>
        <p:nvSpPr>
          <p:cNvPr id="8" name="Shape 5"/>
          <p:cNvSpPr/>
          <p:nvPr/>
        </p:nvSpPr>
        <p:spPr>
          <a:xfrm>
            <a:off x="8900160" y="2865120"/>
            <a:ext cx="2682240" cy="134112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00160" y="2962656"/>
            <a:ext cx="268224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>
                <a:solidFill>
                  <a:srgbClr val="FFFFFF"/>
                </a:solidFill>
              </a:rPr>
              <a:t>214 → 305</a:t>
            </a:r>
            <a:endParaRPr lang="en-US" sz="4267"/>
          </a:p>
        </p:txBody>
      </p:sp>
      <p:sp>
        <p:nvSpPr>
          <p:cNvPr id="10" name="Text 7"/>
          <p:cNvSpPr/>
          <p:nvPr/>
        </p:nvSpPr>
        <p:spPr>
          <a:xfrm>
            <a:off x="8900160" y="3642970"/>
            <a:ext cx="2682240" cy="5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DDEEFF"/>
                </a:solidFill>
              </a:rPr>
              <a:t>CPI index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DDEEFF"/>
                </a:solidFill>
              </a:rPr>
              <a:t>points</a:t>
            </a:r>
            <a:endParaRPr lang="en-US" sz="1467"/>
          </a:p>
        </p:txBody>
      </p:sp>
      <p:sp>
        <p:nvSpPr>
          <p:cNvPr id="11" name="Shape 8"/>
          <p:cNvSpPr/>
          <p:nvPr/>
        </p:nvSpPr>
        <p:spPr>
          <a:xfrm>
            <a:off x="8900160" y="4389120"/>
            <a:ext cx="2682240" cy="1341120"/>
          </a:xfrm>
          <a:prstGeom prst="rect">
            <a:avLst/>
          </a:prstGeom>
          <a:solidFill>
            <a:srgbClr val="EF6C0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900160" y="4486656"/>
            <a:ext cx="268224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>
                <a:solidFill>
                  <a:srgbClr val="FFFFFF"/>
                </a:solidFill>
              </a:rPr>
              <a:t>Post-2020</a:t>
            </a:r>
            <a:endParaRPr lang="en-US" sz="4267"/>
          </a:p>
        </p:txBody>
      </p:sp>
      <p:sp>
        <p:nvSpPr>
          <p:cNvPr id="13" name="Text 10"/>
          <p:cNvSpPr/>
          <p:nvPr/>
        </p:nvSpPr>
        <p:spPr>
          <a:xfrm>
            <a:off x="8900160" y="5166970"/>
            <a:ext cx="2682240" cy="5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DDEEFF"/>
                </a:solidFill>
              </a:rPr>
              <a:t>Inflation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DDEEFF"/>
                </a:solidFill>
              </a:rPr>
              <a:t>accelerated</a:t>
            </a:r>
            <a:endParaRPr lang="en-US" sz="1467"/>
          </a:p>
        </p:txBody>
      </p:sp>
      <p:sp>
        <p:nvSpPr>
          <p:cNvPr id="14" name="Text 11"/>
          <p:cNvSpPr/>
          <p:nvPr/>
        </p:nvSpPr>
        <p:spPr>
          <a:xfrm>
            <a:off x="609600" y="6437376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64748B"/>
                </a:solidFill>
                <a:ea typeface="+mn-lt"/>
                <a:cs typeface="+mn-lt"/>
              </a:rPr>
              <a:t>U.S. CPI trend from 2000 to 2024. The shaded region marks the 2009-2023 study window. Source: Bureau of Labor Statistics.</a:t>
            </a:r>
            <a:endParaRPr lang="en-US"/>
          </a:p>
        </p:txBody>
      </p:sp>
      <p:pic>
        <p:nvPicPr>
          <p:cNvPr id="15" name="Picture 14" descr="A graph with a line and a red line">
            <a:extLst>
              <a:ext uri="{FF2B5EF4-FFF2-40B4-BE49-F238E27FC236}">
                <a16:creationId xmlns:a16="http://schemas.microsoft.com/office/drawing/2014/main" id="{7E6BA9F3-0714-5A5D-F283-0F3B9DE8CB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1" b="826"/>
          <a:stretch>
            <a:fillRect/>
          </a:stretch>
        </p:blipFill>
        <p:spPr>
          <a:xfrm>
            <a:off x="608734" y="1195388"/>
            <a:ext cx="7233831" cy="4993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Did Incomes Keep Up?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609600" y="999744"/>
            <a:ext cx="10972800" cy="48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34400" y="1280160"/>
            <a:ext cx="3048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2B5F"/>
                </a:solidFill>
              </a:rPr>
              <a:t>Key Takeaway</a:t>
            </a:r>
            <a:endParaRPr lang="en-US" sz="1733"/>
          </a:p>
        </p:txBody>
      </p:sp>
      <p:sp>
        <p:nvSpPr>
          <p:cNvPr id="6" name="Text 3"/>
          <p:cNvSpPr/>
          <p:nvPr/>
        </p:nvSpPr>
        <p:spPr>
          <a:xfrm>
            <a:off x="8534400" y="1767840"/>
            <a:ext cx="3048000" cy="3413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45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All tiers grew in real terms — but the gap widened.</a:t>
            </a:r>
            <a:endParaRPr lang="en-US" sz="14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5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Low Poverty counties surged post-2020 as labor markets tightened.</a:t>
            </a:r>
            <a:endParaRPr lang="en-US" sz="14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5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High Poverty counties saw minimal gains and ended 2023 further behind in real terms than they started.</a:t>
            </a:r>
            <a:endParaRPr lang="en-US" sz="1450">
              <a:latin typeface="Calibri"/>
              <a:ea typeface="Calibri"/>
              <a:cs typeface="Calibr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534400" y="5242560"/>
            <a:ext cx="3048000" cy="792480"/>
          </a:xfrm>
          <a:prstGeom prst="rect">
            <a:avLst/>
          </a:prstGeom>
          <a:solidFill>
            <a:srgbClr val="FFF3E0"/>
          </a:solidFill>
          <a:ln w="6350">
            <a:solidFill>
              <a:srgbClr val="EF6C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0" y="5303520"/>
            <a:ext cx="29260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EF6C00"/>
                </a:solidFill>
              </a:rPr>
              <a:t>The squeeze was not shared equally.</a:t>
            </a:r>
            <a:endParaRPr lang="en-US" sz="1467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CAD07C-1FAD-72B6-3F26-34169E60A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22" y="1285594"/>
            <a:ext cx="6953251" cy="49255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The Housing Burden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609600" y="999744"/>
            <a:ext cx="10972800" cy="48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219200"/>
            <a:ext cx="6096000" cy="415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2B5F"/>
                </a:solidFill>
              </a:rPr>
              <a:t>The 30% Rule</a:t>
            </a:r>
            <a:endParaRPr lang="en-US" sz="1733"/>
          </a:p>
        </p:txBody>
      </p:sp>
      <p:sp>
        <p:nvSpPr>
          <p:cNvPr id="5" name="Text 3"/>
          <p:cNvSpPr/>
          <p:nvPr/>
        </p:nvSpPr>
        <p:spPr>
          <a:xfrm>
            <a:off x="609600" y="1706880"/>
            <a:ext cx="4426324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spending more than 30% of gross income on rent are considered housing-cost-burdened.</a:t>
            </a:r>
            <a:endParaRPr lang="en-US" sz="1467"/>
          </a:p>
        </p:txBody>
      </p:sp>
      <p:sp>
        <p:nvSpPr>
          <p:cNvPr id="9" name="Text 6"/>
          <p:cNvSpPr/>
          <p:nvPr/>
        </p:nvSpPr>
        <p:spPr>
          <a:xfrm>
            <a:off x="609600" y="6437376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</a:rPr>
              <a:t>% of counties above the 30% rent-to-income threshold by poverty tier. Source: U.S. Census ACS | BLS CPI-U. 2023 data.</a:t>
            </a:r>
            <a:endParaRPr lang="en-US" sz="12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DE76CE-0094-EE6F-A4AB-FAFC89F3B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194" y="1216120"/>
            <a:ext cx="6702798" cy="5120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06705-6BE0-9476-9FDE-0BB1D96A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BA5B2C-80F1-3DD7-34C4-23DDA442019A}"/>
              </a:ext>
            </a:extLst>
          </p:cNvPr>
          <p:cNvSpPr/>
          <p:nvPr/>
        </p:nvSpPr>
        <p:spPr>
          <a:xfrm>
            <a:off x="609600" y="2682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The Housing Burden</a:t>
            </a:r>
            <a:endParaRPr lang="en-US" sz="3467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ABA2291-0A80-6941-C887-7AF15E16BA5B}"/>
              </a:ext>
            </a:extLst>
          </p:cNvPr>
          <p:cNvSpPr/>
          <p:nvPr/>
        </p:nvSpPr>
        <p:spPr>
          <a:xfrm>
            <a:off x="609600" y="999744"/>
            <a:ext cx="10972800" cy="48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1C70C5-64F3-8BEF-84D3-EB05221643C7}"/>
              </a:ext>
            </a:extLst>
          </p:cNvPr>
          <p:cNvSpPr/>
          <p:nvPr/>
        </p:nvSpPr>
        <p:spPr>
          <a:xfrm>
            <a:off x="609600" y="1219200"/>
            <a:ext cx="6096000" cy="415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A2B5F"/>
                </a:solidFill>
              </a:rPr>
              <a:t>Michigan</a:t>
            </a:r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A8B44EB-F8B3-6CFF-1723-18B8565BBD41}"/>
              </a:ext>
            </a:extLst>
          </p:cNvPr>
          <p:cNvSpPr/>
          <p:nvPr/>
        </p:nvSpPr>
        <p:spPr>
          <a:xfrm>
            <a:off x="612371" y="1720735"/>
            <a:ext cx="5332044" cy="39331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Michigan's most expensive counties — Ottawa, Washtenaw, Leelanau — are among the state's lowest-poverty areas.</a:t>
            </a:r>
            <a:endParaRPr lang="en-US"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High housing costs reflect rising market prices, not income deprivation.</a:t>
            </a:r>
            <a:endParaRPr lang="en-US"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This is a different housing crisis from what high-poverty counties face.</a:t>
            </a:r>
            <a:endParaRPr lang="en-US"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C346D93-F58B-86CA-1A8A-1097D4C24F60}"/>
              </a:ext>
            </a:extLst>
          </p:cNvPr>
          <p:cNvSpPr/>
          <p:nvPr/>
        </p:nvSpPr>
        <p:spPr>
          <a:xfrm>
            <a:off x="609600" y="6437376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</a:rPr>
              <a:t>% of counties above the 30% rent-to-income threshold by poverty tier. Source: U.S. Census ACS | BLS CPI-U. 2023 data.</a:t>
            </a:r>
            <a:endParaRPr lang="en-US"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2874CD-AA4D-0D52-71AD-ECEC097CC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20" y="1429718"/>
            <a:ext cx="4869108" cy="476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59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Where It Hurts Most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609600" y="999744"/>
            <a:ext cx="10972800" cy="48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3671047" y="513229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700">
              <a:solidFill>
                <a:srgbClr val="2D3748"/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560" y="179222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5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998720" cy="3779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50">
              <a:solidFill>
                <a:srgbClr val="2D374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6437376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</a:rPr>
              <a:t>Interactive Leaflet maps in the HTML report. Static choropleth for rent burden. Source: U.S. Census ACS | BLS CPI-U.</a:t>
            </a:r>
            <a:endParaRPr lang="en-US" sz="1200"/>
          </a:p>
        </p:txBody>
      </p:sp>
      <p:pic>
        <p:nvPicPr>
          <p:cNvPr id="14" name="Picture 1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270EE6B2-11BD-C3C5-AF4D-C7264F47F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475" y="1573305"/>
            <a:ext cx="7142886" cy="4219933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59D5C7EC-B2FD-5DF4-B27B-056E9C8AD11A}"/>
              </a:ext>
            </a:extLst>
          </p:cNvPr>
          <p:cNvSpPr/>
          <p:nvPr/>
        </p:nvSpPr>
        <p:spPr>
          <a:xfrm>
            <a:off x="609600" y="1219200"/>
            <a:ext cx="6096000" cy="415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A2B5F"/>
                </a:solidFill>
              </a:rPr>
              <a:t>Two Different Geographies of Hardship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2C06C00-EE24-0C09-38F7-3F56593B665B}"/>
              </a:ext>
            </a:extLst>
          </p:cNvPr>
          <p:cNvSpPr/>
          <p:nvPr/>
        </p:nvSpPr>
        <p:spPr>
          <a:xfrm>
            <a:off x="634783" y="1720735"/>
            <a:ext cx="3516691" cy="39331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latin typeface="Calibri"/>
                <a:ea typeface="Calibri"/>
                <a:cs typeface="Calibri"/>
              </a:rPr>
              <a:t>MAP A: Poverty Rate (2023)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Concentrated in some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Persistent, structural poverty regions where incomes have chronically lagged behind national averages.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463F0-919E-F7E0-CE21-5683F781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D3863A-9165-0C98-76FD-E15E13002B34}"/>
              </a:ext>
            </a:extLst>
          </p:cNvPr>
          <p:cNvSpPr/>
          <p:nvPr/>
        </p:nvSpPr>
        <p:spPr>
          <a:xfrm>
            <a:off x="609600" y="2682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Where It Hurts Most</a:t>
            </a:r>
            <a:endParaRPr lang="en-US" sz="3467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1C5CD88-89F9-55CC-58E3-8A8A833CC672}"/>
              </a:ext>
            </a:extLst>
          </p:cNvPr>
          <p:cNvSpPr/>
          <p:nvPr/>
        </p:nvSpPr>
        <p:spPr>
          <a:xfrm>
            <a:off x="609600" y="999744"/>
            <a:ext cx="10972800" cy="48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DD2FD0D-5529-DD86-BC49-3FA2A09FAC69}"/>
              </a:ext>
            </a:extLst>
          </p:cNvPr>
          <p:cNvSpPr/>
          <p:nvPr/>
        </p:nvSpPr>
        <p:spPr>
          <a:xfrm>
            <a:off x="6400800" y="179222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5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2C8A275-7116-FE33-0A81-33039E00B97D}"/>
              </a:ext>
            </a:extLst>
          </p:cNvPr>
          <p:cNvSpPr/>
          <p:nvPr/>
        </p:nvSpPr>
        <p:spPr>
          <a:xfrm>
            <a:off x="609600" y="6437376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</a:rPr>
              <a:t>Interactive Leaflet maps in the HTML report. Static choropleth for rent burden. Source: U.S. Census ACS | BLS CPI-U.</a:t>
            </a:r>
            <a:endParaRPr lang="en-US" sz="1200"/>
          </a:p>
        </p:txBody>
      </p:sp>
      <p:pic>
        <p:nvPicPr>
          <p:cNvPr id="15" name="Picture 1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20F30304-283A-7CB7-EDD0-3E3DEE6D2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612" y="1793297"/>
            <a:ext cx="6745432" cy="3742460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8F4D1B80-10F9-DB17-16C8-C98AABAA63DD}"/>
              </a:ext>
            </a:extLst>
          </p:cNvPr>
          <p:cNvSpPr/>
          <p:nvPr/>
        </p:nvSpPr>
        <p:spPr>
          <a:xfrm>
            <a:off x="609600" y="1219200"/>
            <a:ext cx="6096000" cy="415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A2B5F"/>
                </a:solidFill>
              </a:rPr>
              <a:t>Two Different Geographies of Hardship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355F22B1-E52B-3343-17C4-DE616152776D}"/>
              </a:ext>
            </a:extLst>
          </p:cNvPr>
          <p:cNvSpPr/>
          <p:nvPr/>
        </p:nvSpPr>
        <p:spPr>
          <a:xfrm>
            <a:off x="634783" y="1720735"/>
            <a:ext cx="3516691" cy="39331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>
                <a:latin typeface="Calibri"/>
                <a:ea typeface="Calibri"/>
                <a:cs typeface="Calibri"/>
              </a:rPr>
              <a:t>MAP B: Rent-to-Income Ratio (2023)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>
                <a:latin typeface="Calibri"/>
                <a:ea typeface="Calibri"/>
                <a:cs typeface="Calibri"/>
              </a:rPr>
              <a:t>Concentrated in:</a:t>
            </a:r>
          </a:p>
          <a:p>
            <a:pPr marL="894715" lvl="1" indent="-285750">
              <a:buFont typeface="Arial" panose="020B0604020202020204" pitchFamily="34" charset="0"/>
              <a:buChar char="•"/>
            </a:pPr>
            <a:r>
              <a:rPr lang="en-US" sz="1500">
                <a:latin typeface="Calibri"/>
                <a:ea typeface="Calibri"/>
                <a:cs typeface="Calibri"/>
              </a:rPr>
              <a:t>Coastal metros</a:t>
            </a:r>
          </a:p>
          <a:p>
            <a:pPr marL="894715" lvl="1" indent="-285750">
              <a:buFont typeface="Arial" panose="020B0604020202020204" pitchFamily="34" charset="0"/>
              <a:buChar char="•"/>
            </a:pPr>
            <a:r>
              <a:rPr lang="en-US" sz="1500">
                <a:latin typeface="Calibri"/>
                <a:ea typeface="Calibri"/>
                <a:cs typeface="Calibri"/>
              </a:rPr>
              <a:t>Mountain resort counties</a:t>
            </a:r>
          </a:p>
          <a:p>
            <a:pPr marL="894715" lvl="1" indent="-285750">
              <a:buFont typeface="Arial" panose="020B0604020202020204" pitchFamily="34" charset="0"/>
              <a:buChar char="•"/>
            </a:pPr>
            <a:r>
              <a:rPr lang="en-US" sz="1500">
                <a:latin typeface="Calibri"/>
                <a:ea typeface="Calibri"/>
                <a:cs typeface="Calibri"/>
              </a:rPr>
              <a:t>High-demand urban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>
                <a:latin typeface="Calibri"/>
                <a:ea typeface="Calibri"/>
                <a:cs typeface="Calibri"/>
              </a:rPr>
              <a:t>A different crisis: rent outpaces income here regardless of poverty rate; driven by supply constraints and market demand.</a:t>
            </a:r>
            <a:endParaRPr lang="en-US" sz="15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008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Income Growth Distribution by Poverty Tier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609600" y="999744"/>
            <a:ext cx="10972800" cy="48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052945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view of real income growth (2009–2023) per county, split by poverty tier.</a:t>
            </a:r>
            <a:endParaRPr lang="en-US" sz="1600"/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8176440-1855-C20C-901E-0984DA860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97" y="1476809"/>
            <a:ext cx="7007803" cy="490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59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Test: Is the Gap Statistically Significant?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609600" y="999744"/>
            <a:ext cx="10972800" cy="48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280160"/>
            <a:ext cx="5242560" cy="2804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4112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2B5F"/>
                </a:solidFill>
              </a:rPr>
              <a:t>Hypotheses</a:t>
            </a:r>
            <a:endParaRPr lang="en-US" sz="1733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998720" cy="213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b="1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H₀: </a:t>
            </a:r>
            <a:r>
              <a:rPr lang="en-US" sz="145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Mean real income growth is the same for High and Low Poverty counties.
</a:t>
            </a:r>
            <a:r>
              <a:rPr lang="en-US" sz="1450" b="1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H₁: </a:t>
            </a:r>
            <a:r>
              <a:rPr lang="en-US" sz="145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Mean real income growth differs between the two groups.</a:t>
            </a:r>
            <a:endParaRPr lang="en-US" sz="1467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4267200"/>
            <a:ext cx="5242560" cy="2133600"/>
          </a:xfrm>
          <a:prstGeom prst="rect">
            <a:avLst/>
          </a:prstGeom>
          <a:solidFill>
            <a:srgbClr val="E8F4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28160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A2B5F"/>
                </a:solidFill>
              </a:rPr>
              <a:t>Results</a:t>
            </a:r>
            <a:endParaRPr lang="en-US" sz="1733"/>
          </a:p>
        </p:txBody>
      </p:sp>
      <p:sp>
        <p:nvSpPr>
          <p:cNvPr id="9" name="Text 7"/>
          <p:cNvSpPr/>
          <p:nvPr/>
        </p:nvSpPr>
        <p:spPr>
          <a:xfrm>
            <a:off x="731520" y="4815840"/>
            <a:ext cx="499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permutations  |  Seed: 518
</a:t>
            </a:r>
            <a:r>
              <a:rPr lang="en-US" sz="1467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0.0001
</a:t>
            </a:r>
            <a:r>
              <a:rPr lang="en-US" sz="1467" b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— the gap is not due to chance.</a:t>
            </a:r>
            <a:endParaRPr lang="en-US" sz="1467"/>
          </a:p>
        </p:txBody>
      </p:sp>
      <p:sp>
        <p:nvSpPr>
          <p:cNvPr id="11" name="Text 8"/>
          <p:cNvSpPr/>
          <p:nvPr/>
        </p:nvSpPr>
        <p:spPr>
          <a:xfrm>
            <a:off x="6217920" y="60350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i="1">
                <a:solidFill>
                  <a:srgbClr val="C62828"/>
                </a:solidFill>
              </a:rPr>
              <a:t>← Observed gap far outside null distribution</a:t>
            </a:r>
            <a:endParaRPr lang="en-US" sz="1333"/>
          </a:p>
        </p:txBody>
      </p:sp>
      <p:sp>
        <p:nvSpPr>
          <p:cNvPr id="12" name="Text 9"/>
          <p:cNvSpPr/>
          <p:nvPr/>
        </p:nvSpPr>
        <p:spPr>
          <a:xfrm>
            <a:off x="609600" y="6437376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</a:rPr>
              <a:t>Two-sided permutation test. Test statistic: mean(High Poverty growth) − mean(Low Poverty growth). Source: U.S. Census ACS | BLS CPI-U.</a:t>
            </a:r>
            <a:endParaRPr lang="en-US" sz="1200"/>
          </a:p>
        </p:txBody>
      </p:sp>
      <p:pic>
        <p:nvPicPr>
          <p:cNvPr id="13" name="Picture 12" descr="A graph of a number of individuals&#10;&#10;AI-generated content may be incorrect.">
            <a:extLst>
              <a:ext uri="{FF2B5EF4-FFF2-40B4-BE49-F238E27FC236}">
                <a16:creationId xmlns:a16="http://schemas.microsoft.com/office/drawing/2014/main" id="{04865A89-44E0-777A-BE2E-3E18AB370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236" y="1763857"/>
            <a:ext cx="5828435" cy="393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66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AB934-42BF-7668-54BA-DF71712A7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583" y="365125"/>
            <a:ext cx="10549217" cy="910946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Conclusions &amp; Takeaways</a:t>
            </a:r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CBDA8F3-5DD1-599E-63AA-85808E30C62C}"/>
              </a:ext>
            </a:extLst>
          </p:cNvPr>
          <p:cNvSpPr/>
          <p:nvPr/>
        </p:nvSpPr>
        <p:spPr>
          <a:xfrm>
            <a:off x="487680" y="1404769"/>
            <a:ext cx="609600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159DE15-5681-1E3F-F340-B171C943A61E}"/>
              </a:ext>
            </a:extLst>
          </p:cNvPr>
          <p:cNvSpPr/>
          <p:nvPr/>
        </p:nvSpPr>
        <p:spPr>
          <a:xfrm>
            <a:off x="640080" y="1557169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01</a:t>
            </a:r>
            <a:endParaRPr lang="en-US" sz="16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B74E1BE-3243-3232-45BA-2923AAAD14C5}"/>
              </a:ext>
            </a:extLst>
          </p:cNvPr>
          <p:cNvSpPr/>
          <p:nvPr/>
        </p:nvSpPr>
        <p:spPr>
          <a:xfrm>
            <a:off x="1280160" y="1429153"/>
            <a:ext cx="10241280" cy="5608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Prices rose 42% from 2009 to 2023, accelerating sharply after 2020.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CFCA77D2-B81B-5F16-B148-716E87D593F2}"/>
              </a:ext>
            </a:extLst>
          </p:cNvPr>
          <p:cNvSpPr/>
          <p:nvPr/>
        </p:nvSpPr>
        <p:spPr>
          <a:xfrm>
            <a:off x="487680" y="2477665"/>
            <a:ext cx="609600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EED58D3D-AFAF-39CB-D981-29E320A546D4}"/>
              </a:ext>
            </a:extLst>
          </p:cNvPr>
          <p:cNvSpPr/>
          <p:nvPr/>
        </p:nvSpPr>
        <p:spPr>
          <a:xfrm>
            <a:off x="640080" y="263006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02</a:t>
            </a:r>
            <a:endParaRPr lang="en-US" sz="160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6D4C95E1-037F-09EC-0DD2-894B3C3D5B7A}"/>
              </a:ext>
            </a:extLst>
          </p:cNvPr>
          <p:cNvSpPr/>
          <p:nvPr/>
        </p:nvSpPr>
        <p:spPr>
          <a:xfrm>
            <a:off x="1280160" y="2502049"/>
            <a:ext cx="10241280" cy="5608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Incomes grew in all tiers — but the gap between Low and High Poverty counties widened in real terms.</a:t>
            </a: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07B8033F-CDD6-3424-8F4E-F10EF8EAAE0E}"/>
              </a:ext>
            </a:extLst>
          </p:cNvPr>
          <p:cNvSpPr/>
          <p:nvPr/>
        </p:nvSpPr>
        <p:spPr>
          <a:xfrm>
            <a:off x="487680" y="3550561"/>
            <a:ext cx="609600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D7C2E0A6-5A8B-3D89-B265-A49BF57A91FD}"/>
              </a:ext>
            </a:extLst>
          </p:cNvPr>
          <p:cNvSpPr/>
          <p:nvPr/>
        </p:nvSpPr>
        <p:spPr>
          <a:xfrm>
            <a:off x="640080" y="3702961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03</a:t>
            </a:r>
            <a:endParaRPr lang="en-US" sz="160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E8949182-7479-0205-099E-2548FB58E8B0}"/>
              </a:ext>
            </a:extLst>
          </p:cNvPr>
          <p:cNvSpPr/>
          <p:nvPr/>
        </p:nvSpPr>
        <p:spPr>
          <a:xfrm>
            <a:off x="1280160" y="3574945"/>
            <a:ext cx="10241280" cy="5608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Housing cost burden is concentrated in high-poverty counties, with 67% above the 30% threshold.</a:t>
            </a: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75114846-7DEA-BB1B-E5C0-EA1F47B466CF}"/>
              </a:ext>
            </a:extLst>
          </p:cNvPr>
          <p:cNvSpPr/>
          <p:nvPr/>
        </p:nvSpPr>
        <p:spPr>
          <a:xfrm>
            <a:off x="487680" y="4623457"/>
            <a:ext cx="609600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BE68C366-079E-D140-F246-B66810482067}"/>
              </a:ext>
            </a:extLst>
          </p:cNvPr>
          <p:cNvSpPr/>
          <p:nvPr/>
        </p:nvSpPr>
        <p:spPr>
          <a:xfrm>
            <a:off x="640080" y="4775857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04</a:t>
            </a:r>
            <a:endParaRPr lang="en-US" sz="160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8E06B05-7692-1CD6-C2BF-D05B769D070A}"/>
              </a:ext>
            </a:extLst>
          </p:cNvPr>
          <p:cNvSpPr/>
          <p:nvPr/>
        </p:nvSpPr>
        <p:spPr>
          <a:xfrm>
            <a:off x="1280160" y="4647841"/>
            <a:ext cx="10241280" cy="5608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Geography matters: poverty concentrates in the South and Appalachia; rent burden is a coastal phenomenon. Two distinct crises.</a:t>
            </a:r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8D09D723-B62F-2431-A470-7176EE8C3F63}"/>
              </a:ext>
            </a:extLst>
          </p:cNvPr>
          <p:cNvSpPr/>
          <p:nvPr/>
        </p:nvSpPr>
        <p:spPr>
          <a:xfrm>
            <a:off x="487680" y="5696353"/>
            <a:ext cx="609600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57FBBD52-AEAC-6346-F792-58A43A740B69}"/>
              </a:ext>
            </a:extLst>
          </p:cNvPr>
          <p:cNvSpPr/>
          <p:nvPr/>
        </p:nvSpPr>
        <p:spPr>
          <a:xfrm>
            <a:off x="640080" y="5848753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05</a:t>
            </a:r>
            <a:endParaRPr lang="en-US" sz="160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82EC73AE-AF9C-FF34-6D92-F9E08205209F}"/>
              </a:ext>
            </a:extLst>
          </p:cNvPr>
          <p:cNvSpPr/>
          <p:nvPr/>
        </p:nvSpPr>
        <p:spPr>
          <a:xfrm>
            <a:off x="1280160" y="5720737"/>
            <a:ext cx="10241280" cy="5608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The income growth gap is statistically significant (p &lt; 0.0001). The squeeze was systematically worse for the most vulnerable.</a:t>
            </a:r>
          </a:p>
        </p:txBody>
      </p:sp>
    </p:spTree>
    <p:extLst>
      <p:ext uri="{BB962C8B-B14F-4D97-AF65-F5344CB8AC3E}">
        <p14:creationId xmlns:p14="http://schemas.microsoft.com/office/powerpoint/2010/main" val="4094979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5363-89FA-EC00-A8CF-A91AE0FD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Appendix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3D5B8-7470-F358-2E9D-D5051154C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  <a:hlinkClick r:id="rId3"/>
              </a:rPr>
              <a:t>GitHub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29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How Rising Costs Outpaced Income (2009–2023)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 &amp; Takeaways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18</cp:revision>
  <dcterms:created xsi:type="dcterms:W3CDTF">2026-04-30T01:20:35Z</dcterms:created>
  <dcterms:modified xsi:type="dcterms:W3CDTF">2026-04-30T11:43:11Z</dcterms:modified>
</cp:coreProperties>
</file>